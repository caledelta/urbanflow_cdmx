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1440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DIPLOMADO EN CIENCIA DE DATOS · FES ACATLÁN · UNAM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14400" y="15544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UrbanFlow CDMX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14400" y="2743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VialAI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14400" y="3657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E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probabilística de tiempos de viaje en la ZMVM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4114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Cadenas de Markov · Monte Carlo · Agente Conversacional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14400" y="4846320"/>
            <a:ext cx="3657600" cy="0"/>
          </a:xfrm>
          <a:prstGeom prst="line">
            <a:avLst/>
          </a:prstGeom>
          <a:noFill/>
          <a:ln w="254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Carlos Armando López Encino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14400" y="55321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Integrador Final  ·  Abril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comenzar: ¿Qué es la ZMVM?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789920" y="457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594360"/>
            <a:ext cx="12188952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UrbanFlow CDMX · VialAI  |  Carlos A. López Encino  |  Diplomado CD — FES Acatlán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Metropolitana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Valle de México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5486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tercera megaciudad más grande del continente americano, con una de las dinámicas de tráfico más desafiantes del mundo.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Compuesta por: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alcaldías de la Ciudad de México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 municipios conurbados del Estado de México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municipio del estado de Hidalgo (Tizayuca)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92240" y="128016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92240" y="1280160"/>
            <a:ext cx="91440" cy="182880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15544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21.8M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667512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habitantes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235440" y="128016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235440" y="1280160"/>
            <a:ext cx="9144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418320" y="15544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941832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municipios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92240" y="338328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92240" y="3383280"/>
            <a:ext cx="91440" cy="182880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675120" y="3657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6675120" y="4480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de congestión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235440" y="338328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235440" y="3383280"/>
            <a:ext cx="91440" cy="18288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418320" y="3657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5.5M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9418320" y="4480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vehículos en circulación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126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DataMéxico 2024 · TomTom Traffic Index 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problema: tráfico impredecible en la ZMVM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789920" y="457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594360"/>
            <a:ext cx="12188952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UrbanFlow CDMX · VialAI  |  Carlos A. López Encino  |  Diplomado CD — FES Acatlán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118872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</a:t>
            </a:r>
            <a:endParaRPr lang="en-US" sz="24000" dirty="0"/>
          </a:p>
        </p:txBody>
      </p:sp>
      <p:sp>
        <p:nvSpPr>
          <p:cNvPr id="8" name="Text 6"/>
          <p:cNvSpPr/>
          <p:nvPr/>
        </p:nvSpPr>
        <p:spPr>
          <a:xfrm>
            <a:off x="731520" y="4114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al año perdidas en tráfico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conductor en CDMX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50292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equivalen a 6 días completos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19 jornadas laborales de 8 horas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0" y="1188720"/>
            <a:ext cx="5029200" cy="4846320"/>
          </a:xfrm>
          <a:prstGeom prst="rect">
            <a:avLst/>
          </a:prstGeom>
          <a:solidFill>
            <a:srgbClr val="0C4A6E"/>
          </a:solidFill>
          <a:ln w="254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766560" y="13258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766560" y="1737360"/>
            <a:ext cx="466344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CAE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CDMX es la ciudad #1 del mundo en congestión vehicular (TomTom 2024).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CAE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Recorrer 10 km toma 32 min en promedio (velocidad media: 18.8 km/h).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CAE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hora pico, las arterias principales pueden caer a 5 km/h.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CAE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registran ~3,000 manifestaciones al año con cierres imprevistos.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sistemas actuales (Google Maps, Waze) dan un solo número. El tráfico no es un número: es una distribución.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789920" y="457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594360"/>
            <a:ext cx="12188952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UrbanFlow CDMX · VialAI  |  Carlos A. López Encino  |  Diplomado CD — FES Acatlán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137160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0" dirty="0"/>
          </a:p>
        </p:txBody>
      </p:sp>
      <p:sp>
        <p:nvSpPr>
          <p:cNvPr id="8" name="Shape 6"/>
          <p:cNvSpPr/>
          <p:nvPr/>
        </p:nvSpPr>
        <p:spPr>
          <a:xfrm>
            <a:off x="2560320" y="1508760"/>
            <a:ext cx="73152" cy="118872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834640" y="14630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834640" y="20574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fuentes, cadenas de Markov de 3 estados, simulación Monte Carlo vectorizada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297180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0" dirty="0"/>
          </a:p>
        </p:txBody>
      </p:sp>
      <p:sp>
        <p:nvSpPr>
          <p:cNvPr id="12" name="Shape 10"/>
          <p:cNvSpPr/>
          <p:nvPr/>
        </p:nvSpPr>
        <p:spPr>
          <a:xfrm>
            <a:off x="2560320" y="3108960"/>
            <a:ext cx="73152" cy="1188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834640" y="30632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VialAI en acción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834640" y="36576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Bandas P10/P50/P90, Índice de Confiabilidad, agente conversacional y perturbaciones contextuales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457200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0" dirty="0"/>
          </a:p>
        </p:txBody>
      </p:sp>
      <p:sp>
        <p:nvSpPr>
          <p:cNvPr id="16" name="Shape 14"/>
          <p:cNvSpPr/>
          <p:nvPr/>
        </p:nvSpPr>
        <p:spPr>
          <a:xfrm>
            <a:off x="2560320" y="4709160"/>
            <a:ext cx="73152" cy="11887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834640" y="4663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 de negocio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2834640" y="52578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logística de última milla en la ZMVM — el nicho donde la predictibilidad importa más que la velocidad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datos: 5 fuentes integradas en tiempo real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789920" y="457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594360"/>
            <a:ext cx="12188952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UrbanFlow CDMX · VialAI  |  Carlos A. López Encino  |  Diplomado CD — FES Acatlán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6576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48640" y="1188720"/>
            <a:ext cx="3657600" cy="13716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  <p:txBody>
          <a:bodyPr/>
          <a:p/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0876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7160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800" dirty="0"/>
          </a:p>
        </p:txBody>
      </p:sp>
      <p:sp>
        <p:nvSpPr>
          <p:cNvPr id="11" name="Text 8"/>
          <p:cNvSpPr/>
          <p:nvPr/>
        </p:nvSpPr>
        <p:spPr>
          <a:xfrm>
            <a:off x="822960" y="22860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 de datos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743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TomTom × 2 · OWM · C5 · GMaps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434840" y="1188720"/>
            <a:ext cx="36576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4434840" y="1188720"/>
            <a:ext cx="365760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50876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25780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</a:t>
            </a:r>
            <a:endParaRPr lang="en-US" sz="4800" dirty="0"/>
          </a:p>
        </p:txBody>
      </p:sp>
      <p:sp>
        <p:nvSpPr>
          <p:cNvPr id="17" name="Text 13"/>
          <p:cNvSpPr/>
          <p:nvPr/>
        </p:nvSpPr>
        <p:spPr>
          <a:xfrm>
            <a:off x="4709160" y="22860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Trayectorias MC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4709160" y="2743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consulta de viaje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321040" y="1188720"/>
            <a:ext cx="36576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8321040" y="1188720"/>
            <a:ext cx="3657600" cy="13716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508760"/>
            <a:ext cx="457200" cy="4572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14400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800" dirty="0"/>
          </a:p>
        </p:txBody>
      </p:sp>
      <p:sp>
        <p:nvSpPr>
          <p:cNvPr id="23" name="Text 18"/>
          <p:cNvSpPr/>
          <p:nvPr/>
        </p:nvSpPr>
        <p:spPr>
          <a:xfrm>
            <a:off x="8595360" y="22860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Markov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8595360" y="2743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Fluido · Lento · Congestionado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548640" y="3703320"/>
            <a:ext cx="36576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26" name="Shape 21"/>
          <p:cNvSpPr/>
          <p:nvPr/>
        </p:nvSpPr>
        <p:spPr>
          <a:xfrm>
            <a:off x="548640" y="3703320"/>
            <a:ext cx="3657600" cy="13716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p/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023360"/>
            <a:ext cx="457200" cy="45720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371600" y="3886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4800" dirty="0"/>
          </a:p>
        </p:txBody>
      </p:sp>
      <p:sp>
        <p:nvSpPr>
          <p:cNvPr id="29" name="Text 23"/>
          <p:cNvSpPr/>
          <p:nvPr/>
        </p:nvSpPr>
        <p:spPr>
          <a:xfrm>
            <a:off x="822960" y="4800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Perturbaciones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822960" y="52578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 · Eventos · Marchas · Festivos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434840" y="3703320"/>
            <a:ext cx="36576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32" name="Shape 26"/>
          <p:cNvSpPr/>
          <p:nvPr/>
        </p:nvSpPr>
        <p:spPr>
          <a:xfrm>
            <a:off x="4434840" y="3703320"/>
            <a:ext cx="3657600" cy="13716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  <p:txBody>
          <a:bodyPr/>
          <a:p/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4023360"/>
            <a:ext cx="457200" cy="45720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5257800" y="3886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720</a:t>
            </a:r>
            <a:endParaRPr lang="en-US" sz="4800" dirty="0"/>
          </a:p>
        </p:txBody>
      </p:sp>
      <p:sp>
        <p:nvSpPr>
          <p:cNvPr id="35" name="Text 28"/>
          <p:cNvSpPr/>
          <p:nvPr/>
        </p:nvSpPr>
        <p:spPr>
          <a:xfrm>
            <a:off x="4709160" y="4800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automatizados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4709160" y="52578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· 100% pasando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8321040" y="3703320"/>
            <a:ext cx="36576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38" name="Shape 31"/>
          <p:cNvSpPr/>
          <p:nvPr/>
        </p:nvSpPr>
        <p:spPr>
          <a:xfrm>
            <a:off x="8321040" y="3703320"/>
            <a:ext cx="365760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0" y="4023360"/>
            <a:ext cx="457200" cy="457200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9144000" y="3886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&lt;500</a:t>
            </a:r>
            <a:endParaRPr lang="en-US" sz="4800" dirty="0"/>
          </a:p>
        </p:txBody>
      </p:sp>
      <p:sp>
        <p:nvSpPr>
          <p:cNvPr id="41" name="Text 33"/>
          <p:cNvSpPr/>
          <p:nvPr/>
        </p:nvSpPr>
        <p:spPr>
          <a:xfrm>
            <a:off x="8595360" y="4800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de latencia</a:t>
            </a:r>
            <a:endParaRPr lang="en-US" sz="1600" dirty="0"/>
          </a:p>
        </p:txBody>
      </p:sp>
      <p:sp>
        <p:nvSpPr>
          <p:cNvPr id="42" name="Text 34"/>
          <p:cNvSpPr/>
          <p:nvPr/>
        </p:nvSpPr>
        <p:spPr>
          <a:xfrm>
            <a:off x="8595360" y="52578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consulta en CPU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Cadenas de Markov: la dinámica del tráfico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789920" y="457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594360"/>
            <a:ext cx="12188952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UrbanFlow CDMX · VialAI  |  Carlos A. López Encino  |  Diplomado CD — FES Acatlán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estado futuro depende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del estado presente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P(X_{t+1} | X_t, X_{t-1}, …, X_0) = P(X_{t+1} | X_t)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743200"/>
            <a:ext cx="5486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estados mutuamente excluyentes: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Fluido — 20 a 80 km/h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CA8A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Lento — 5 a 35 km/h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Congestionado — 2 a 15 km/h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6 parámetros libres. Identificables con datos razonables. Interpretables para un dispatcher.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0" y="1097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transición (pico AM)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83880" y="16459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Fluido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326880" y="16459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Lento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469880" y="16459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Congest.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40880" y="2103120"/>
            <a:ext cx="1143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83880" y="2103120"/>
            <a:ext cx="1143000" cy="1005840"/>
          </a:xfrm>
          <a:prstGeom prst="rect">
            <a:avLst/>
          </a:prstGeom>
          <a:solidFill>
            <a:srgbClr val="0C4A6E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183880" y="2103120"/>
            <a:ext cx="1143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9326880" y="2103120"/>
            <a:ext cx="1143000" cy="1005840"/>
          </a:xfrm>
          <a:prstGeom prst="rect">
            <a:avLst/>
          </a:prstGeom>
          <a:solidFill>
            <a:srgbClr val="D97706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326880" y="2103120"/>
            <a:ext cx="1143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10469880" y="2103120"/>
            <a:ext cx="1143000" cy="1005840"/>
          </a:xfrm>
          <a:prstGeom prst="rect">
            <a:avLst/>
          </a:prstGeom>
          <a:solidFill>
            <a:srgbClr val="CAE0ED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469880" y="2103120"/>
            <a:ext cx="1143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040880" y="3108960"/>
            <a:ext cx="1143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Lento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183880" y="3108960"/>
            <a:ext cx="1143000" cy="1005840"/>
          </a:xfrm>
          <a:prstGeom prst="rect">
            <a:avLst/>
          </a:prstGeom>
          <a:solidFill>
            <a:srgbClr val="CAE0ED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183880" y="3108960"/>
            <a:ext cx="1143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326880" y="3108960"/>
            <a:ext cx="1143000" cy="1005840"/>
          </a:xfrm>
          <a:prstGeom prst="rect">
            <a:avLst/>
          </a:prstGeom>
          <a:solidFill>
            <a:srgbClr val="0C4A6E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326880" y="3108960"/>
            <a:ext cx="1143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10469880" y="3108960"/>
            <a:ext cx="1143000" cy="1005840"/>
          </a:xfrm>
          <a:prstGeom prst="rect">
            <a:avLst/>
          </a:prstGeom>
          <a:solidFill>
            <a:srgbClr val="D97706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0469880" y="3108960"/>
            <a:ext cx="1143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7040880" y="4114800"/>
            <a:ext cx="1143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183880" y="4114800"/>
            <a:ext cx="1143000" cy="1005840"/>
          </a:xfrm>
          <a:prstGeom prst="rect">
            <a:avLst/>
          </a:prstGeom>
          <a:solidFill>
            <a:srgbClr val="CAE0ED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183880" y="4114800"/>
            <a:ext cx="1143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9326880" y="4114800"/>
            <a:ext cx="1143000" cy="1005840"/>
          </a:xfrm>
          <a:prstGeom prst="rect">
            <a:avLst/>
          </a:prstGeom>
          <a:solidFill>
            <a:srgbClr val="D97706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326880" y="4114800"/>
            <a:ext cx="1143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0.28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10469880" y="4114800"/>
            <a:ext cx="1143000" cy="1005840"/>
          </a:xfrm>
          <a:prstGeom prst="rect">
            <a:avLst/>
          </a:prstGeom>
          <a:solidFill>
            <a:srgbClr val="0C4A6E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10469880" y="4114800"/>
            <a:ext cx="1143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0.67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6858000" y="5349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Diagonales dominantes → inercia del tráfico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858000" y="5669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Empeorar es más probable que mejorar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Monte Carlo: N = 10,000 trayectorias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789920" y="457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594360"/>
            <a:ext cx="12188952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UrbanFlow CDMX · VialAI  |  Carlos A. López Encino  |  Diplomado CD — FES Acatlán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número a una distribución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5486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Simular 10,000 trayectorias posibles del vehículo en la ruta.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En cada paso, muestrear estado de Markov y velocidad dentro del estado (Normal truncada).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Acumular distancia hasta alcanzar el destino.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Extraer percentiles P10, P50, P90 del histograma de tiempos.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simulación corre en &lt;500 ms gracias a vectorización NumPy.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de tiempos simulada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0" y="4800600"/>
            <a:ext cx="530352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601968" y="4320540"/>
            <a:ext cx="258064" cy="480060"/>
          </a:xfrm>
          <a:prstGeom prst="rect">
            <a:avLst/>
          </a:prstGeom>
          <a:solidFill>
            <a:srgbClr val="0C4A6E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896608" y="3680460"/>
            <a:ext cx="258064" cy="1120140"/>
          </a:xfrm>
          <a:prstGeom prst="rect">
            <a:avLst/>
          </a:prstGeom>
          <a:solidFill>
            <a:srgbClr val="0C4A6E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191248" y="2880360"/>
            <a:ext cx="258064" cy="1920240"/>
          </a:xfrm>
          <a:prstGeom prst="rect">
            <a:avLst/>
          </a:prstGeom>
          <a:solidFill>
            <a:srgbClr val="15803D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485888" y="1984248"/>
            <a:ext cx="258064" cy="2816352"/>
          </a:xfrm>
          <a:prstGeom prst="rect">
            <a:avLst/>
          </a:prstGeom>
          <a:solidFill>
            <a:srgbClr val="0C4A6E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780528" y="1600200"/>
            <a:ext cx="258064" cy="3200400"/>
          </a:xfrm>
          <a:prstGeom prst="rect">
            <a:avLst/>
          </a:prstGeom>
          <a:solidFill>
            <a:srgbClr val="D97706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075168" y="1760220"/>
            <a:ext cx="258064" cy="3040380"/>
          </a:xfrm>
          <a:prstGeom prst="rect">
            <a:avLst/>
          </a:prstGeom>
          <a:solidFill>
            <a:srgbClr val="0C4A6E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369808" y="2240280"/>
            <a:ext cx="258064" cy="2560320"/>
          </a:xfrm>
          <a:prstGeom prst="rect">
            <a:avLst/>
          </a:prstGeom>
          <a:solidFill>
            <a:srgbClr val="0C4A6E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664448" y="2720340"/>
            <a:ext cx="258064" cy="2080260"/>
          </a:xfrm>
          <a:prstGeom prst="rect">
            <a:avLst/>
          </a:prstGeom>
          <a:solidFill>
            <a:srgbClr val="0C4A6E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959088" y="3200400"/>
            <a:ext cx="258064" cy="1600200"/>
          </a:xfrm>
          <a:prstGeom prst="rect">
            <a:avLst/>
          </a:prstGeom>
          <a:solidFill>
            <a:srgbClr val="0C4A6E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9253728" y="3584448"/>
            <a:ext cx="258064" cy="1216152"/>
          </a:xfrm>
          <a:prstGeom prst="rect">
            <a:avLst/>
          </a:prstGeom>
          <a:solidFill>
            <a:srgbClr val="B91C1C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9548368" y="3904488"/>
            <a:ext cx="258064" cy="896112"/>
          </a:xfrm>
          <a:prstGeom prst="rect">
            <a:avLst/>
          </a:prstGeom>
          <a:solidFill>
            <a:srgbClr val="0C4A6E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843008" y="4160520"/>
            <a:ext cx="258064" cy="640080"/>
          </a:xfrm>
          <a:prstGeom prst="rect">
            <a:avLst/>
          </a:prstGeom>
          <a:solidFill>
            <a:srgbClr val="0C4A6E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0137648" y="4352544"/>
            <a:ext cx="258064" cy="448056"/>
          </a:xfrm>
          <a:prstGeom prst="rect">
            <a:avLst/>
          </a:prstGeom>
          <a:solidFill>
            <a:srgbClr val="0C4A6E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0432288" y="4480560"/>
            <a:ext cx="258064" cy="320040"/>
          </a:xfrm>
          <a:prstGeom prst="rect">
            <a:avLst/>
          </a:prstGeom>
          <a:solidFill>
            <a:srgbClr val="0C4A6E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0726928" y="4576572"/>
            <a:ext cx="258064" cy="224028"/>
          </a:xfrm>
          <a:prstGeom prst="rect">
            <a:avLst/>
          </a:prstGeom>
          <a:solidFill>
            <a:srgbClr val="0C4A6E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11021568" y="4640580"/>
            <a:ext cx="258064" cy="160020"/>
          </a:xfrm>
          <a:prstGeom prst="rect">
            <a:avLst/>
          </a:prstGeom>
          <a:solidFill>
            <a:srgbClr val="0C4A6E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1316208" y="4704588"/>
            <a:ext cx="258064" cy="96012"/>
          </a:xfrm>
          <a:prstGeom prst="rect">
            <a:avLst/>
          </a:prstGeom>
          <a:solidFill>
            <a:srgbClr val="0C4A6E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1610848" y="4736592"/>
            <a:ext cx="258064" cy="64008"/>
          </a:xfrm>
          <a:prstGeom prst="rect">
            <a:avLst/>
          </a:prstGeom>
          <a:solidFill>
            <a:srgbClr val="0C4A6E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898640" y="484632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487920" y="484632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961120" y="484632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0" y="52578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viaje (min)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de probabilidad de llegar dentro de la banda P10–P90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Perturbaciones contextuales: lo que TomTom no ve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789920" y="457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594360"/>
            <a:ext cx="12188952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UrbanFlow CDMX · VialAI  |  Carlos A. López Encino  |  Diplomado CD — FES Acatlán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que alteran la matriz de transición al vuelo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577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1600200"/>
            <a:ext cx="137160" cy="21031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920240"/>
            <a:ext cx="502920" cy="5029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508760" y="1874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línea Metro L1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68680" y="25146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1.25   →  Δπ = +22 pp en Cong.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68680" y="30175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 de usuarios migran al auto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0" y="1600200"/>
            <a:ext cx="5577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6400800" y="1600200"/>
            <a:ext cx="137160" cy="21031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p/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920240"/>
            <a:ext cx="502920" cy="5029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360920" y="1874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Partido en Estadio Azteca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6720840" y="25146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1.22   →  Δπ = +19 pp en Cong.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6720840" y="30175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de 3–5 km afectado 3 h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48640" y="3977640"/>
            <a:ext cx="5577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21" name="Shape 17"/>
          <p:cNvSpPr/>
          <p:nvPr/>
        </p:nvSpPr>
        <p:spPr>
          <a:xfrm>
            <a:off x="548640" y="3977640"/>
            <a:ext cx="137160" cy="210312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  <p:txBody>
          <a:bodyPr/>
          <a:p/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297680"/>
            <a:ext cx="502920" cy="50292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508760" y="4251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Marcha 9 de marzo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868680" y="48920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4A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1.30   →  Δπ = +29 pp en Cong.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868680" y="53949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Bloqueos Reforma, Cuauhtémoc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400800" y="3977640"/>
            <a:ext cx="5577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27" name="Shape 22"/>
          <p:cNvSpPr/>
          <p:nvPr/>
        </p:nvSpPr>
        <p:spPr>
          <a:xfrm>
            <a:off x="6400800" y="3977640"/>
            <a:ext cx="137160" cy="21031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4297680"/>
            <a:ext cx="502920" cy="50292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360920" y="4251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Navidad / Año Nuevo</a:t>
            </a:r>
            <a:endParaRPr lang="en-US" sz="1800" dirty="0"/>
          </a:p>
        </p:txBody>
      </p:sp>
      <p:sp>
        <p:nvSpPr>
          <p:cNvPr id="30" name="Text 24"/>
          <p:cNvSpPr/>
          <p:nvPr/>
        </p:nvSpPr>
        <p:spPr>
          <a:xfrm>
            <a:off x="6720840" y="48920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0.55   →  Δπ = −19 pp en Cong.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6720840" y="53949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Ciudad semi-vacía, congestión mínima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Confiabilidad: un número vendible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789920" y="457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594360"/>
            <a:ext cx="12188952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UrbanFlow CDMX · VialAI  |  Carlos A. López Encino  |  Diplomado CD — FES Acatlán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097280"/>
            <a:ext cx="11064240" cy="1097280"/>
          </a:xfrm>
          <a:prstGeom prst="rect">
            <a:avLst/>
          </a:prstGeom>
          <a:solidFill>
            <a:srgbClr val="0C4A6E"/>
          </a:solidFill>
          <a:ln w="254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2344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  =  ( P₉₀  −  P₁₀ )  /  P₅₀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548640" y="22860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Amplitud relativa de la banda. Adimensional. Cuanto menor, más confiable la ruta.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3703320" cy="3017520"/>
          </a:xfrm>
          <a:prstGeom prst="rect">
            <a:avLst/>
          </a:prstGeom>
          <a:solidFill>
            <a:srgbClr val="FFFFFF"/>
          </a:solidFill>
          <a:ln w="38100">
            <a:solidFill>
              <a:srgbClr val="15803D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3017520"/>
            <a:ext cx="3703320" cy="6400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0" y="310896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 ≤ 0.30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" y="47548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confiable · SLA promisable con margen mínimo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480560" y="3017520"/>
            <a:ext cx="3703320" cy="3017520"/>
          </a:xfrm>
          <a:prstGeom prst="rect">
            <a:avLst/>
          </a:prstGeom>
          <a:solidFill>
            <a:srgbClr val="FFFFFF"/>
          </a:solidFill>
          <a:ln w="38100">
            <a:solidFill>
              <a:srgbClr val="CA8A0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480560" y="3017520"/>
            <a:ext cx="3703320" cy="640080"/>
          </a:xfrm>
          <a:prstGeom prst="rect">
            <a:avLst/>
          </a:prstGeom>
          <a:solidFill>
            <a:srgbClr val="CA8A04"/>
          </a:solidFill>
          <a:ln w="12700">
            <a:solidFill>
              <a:srgbClr val="CA8A04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480560" y="310896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AMARILLO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663440" y="39319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A8A0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0.30 &lt; IC ≤ 0.60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754880" y="47548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volátil · Requiere buffer moderado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412480" y="3017520"/>
            <a:ext cx="3703320" cy="3017520"/>
          </a:xfrm>
          <a:prstGeom prst="rect">
            <a:avLst/>
          </a:prstGeom>
          <a:solidFill>
            <a:srgbClr val="FFFFFF"/>
          </a:solidFill>
          <a:ln w="38100">
            <a:solidFill>
              <a:srgbClr val="B91C1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412480" y="3017520"/>
            <a:ext cx="3703320" cy="64008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412480" y="310896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595360" y="39319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9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 &gt; 0.60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686800" y="47548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impredecible · No prometer ventana estrecha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Incluso con tráfico Fluido en la ZMVM el IC es ≈ 0.57 → la ciudad nunca es "predecible"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narrativa: Polanco → Santa Fe, 08:15 AM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789920" y="457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594360"/>
            <a:ext cx="12188952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UrbanFlow CDMX · VialAI  |  Carlos A. López Encino  |  Diplomado CD — FES Acatlán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097280"/>
            <a:ext cx="4389120" cy="502920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1887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600200"/>
            <a:ext cx="4023360" cy="448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Polanco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Destino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Fe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(TomTom Routing)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12.8 km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inicial (TomTom)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CA8A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Lento (r = 0.52)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 (OpenWeatherMap)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Llovizna — φ = 0.88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Perturbaciones activas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 rot="5400000">
            <a:off x="5074920" y="3291840"/>
            <a:ext cx="640080" cy="640080"/>
          </a:xfrm>
          <a:prstGeom prst="rtTriangl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852160" y="1097280"/>
            <a:ext cx="576072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943600" y="118872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VIALAI RESPONDE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691640"/>
            <a:ext cx="5486400" cy="731520"/>
          </a:xfrm>
          <a:prstGeom prst="rect">
            <a:avLst/>
          </a:prstGeom>
          <a:solidFill>
            <a:srgbClr val="15803D">
              <a:alpha val="70000"/>
            </a:srgbClr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126480" y="17830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 = 28 min  (optimista)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035040" y="2514600"/>
            <a:ext cx="5486400" cy="731520"/>
          </a:xfrm>
          <a:prstGeom prst="rect">
            <a:avLst/>
          </a:prstGeom>
          <a:solidFill>
            <a:srgbClr val="D97706">
              <a:alpha val="80000"/>
            </a:srgbClr>
          </a:solidFill>
          <a:ln w="254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260604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 = 37 min  (mediana)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035040" y="3337560"/>
            <a:ext cx="5486400" cy="731520"/>
          </a:xfrm>
          <a:prstGeom prst="rect">
            <a:avLst/>
          </a:prstGeom>
          <a:solidFill>
            <a:srgbClr val="B91C1C">
              <a:alpha val="70000"/>
            </a:srgbClr>
          </a:solidFill>
          <a:ln w="12700">
            <a:solidFill>
              <a:srgbClr val="B91C1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126480" y="342900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P90 = 53 min  (pesimista)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035040" y="4251960"/>
            <a:ext cx="54864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035040" y="42519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 = 0.68 — ROJO 🔴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035040" y="53492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➡  Salir con 16 min extra para garantizar 90% de llegar a tiempo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empírica sobre 30 rutas ZMVM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789920" y="457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594360"/>
            <a:ext cx="12188952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UrbanFlow CDMX · VialAI  |  Carlos A. López Encino  |  Diplomado CD — FES Acatlán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55778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48640" y="1188720"/>
            <a:ext cx="164592" cy="22402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0020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737360" y="141732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11.9%</a:t>
            </a:r>
            <a:endParaRPr lang="en-US" sz="6000" dirty="0"/>
          </a:p>
        </p:txBody>
      </p:sp>
      <p:sp>
        <p:nvSpPr>
          <p:cNvPr id="11" name="Text 8"/>
          <p:cNvSpPr/>
          <p:nvPr/>
        </p:nvSpPr>
        <p:spPr>
          <a:xfrm>
            <a:off x="914400" y="26060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 del P50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914400" y="3017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15% objetivo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400800" y="1188720"/>
            <a:ext cx="55778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6400800" y="1188720"/>
            <a:ext cx="164592" cy="22402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0020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589520" y="141732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6000" dirty="0"/>
          </a:p>
        </p:txBody>
      </p:sp>
      <p:sp>
        <p:nvSpPr>
          <p:cNvPr id="17" name="Text 13"/>
          <p:cNvSpPr/>
          <p:nvPr/>
        </p:nvSpPr>
        <p:spPr>
          <a:xfrm>
            <a:off x="6766560" y="26060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P10-P90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6766560" y="3017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nominal: 80%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48640" y="3657600"/>
            <a:ext cx="55778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548640" y="3657600"/>
            <a:ext cx="164592" cy="2240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69080"/>
            <a:ext cx="640080" cy="64008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737360" y="388620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</a:t>
            </a:r>
            <a:endParaRPr lang="en-US" sz="6000" dirty="0"/>
          </a:p>
        </p:txBody>
      </p:sp>
      <p:sp>
        <p:nvSpPr>
          <p:cNvPr id="23" name="Text 18"/>
          <p:cNvSpPr/>
          <p:nvPr/>
        </p:nvSpPr>
        <p:spPr>
          <a:xfrm>
            <a:off x="914400" y="50749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en minutos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914400" y="5486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absoluto medio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400800" y="3657600"/>
            <a:ext cx="55778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26" name="Shape 21"/>
          <p:cNvSpPr/>
          <p:nvPr/>
        </p:nvSpPr>
        <p:spPr>
          <a:xfrm>
            <a:off x="6400800" y="3657600"/>
            <a:ext cx="164592" cy="224028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p/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4069080"/>
            <a:ext cx="640080" cy="64008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589520" y="388620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19.0%</a:t>
            </a:r>
            <a:endParaRPr lang="en-US" sz="6000" dirty="0"/>
          </a:p>
        </p:txBody>
      </p:sp>
      <p:sp>
        <p:nvSpPr>
          <p:cNvPr id="29" name="Text 23"/>
          <p:cNvSpPr/>
          <p:nvPr/>
        </p:nvSpPr>
        <p:spPr>
          <a:xfrm>
            <a:off x="6766560" y="50749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 TomTom ETA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6766560" y="5486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VialAI es 7.1 pp mejor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548640" y="62179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VialAI entrega mejor precisión que TomTom ETA y cuantifica la incertidumbre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VialAI: la capa conversacional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789920" y="457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594360"/>
            <a:ext cx="12188952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UrbanFlow CDMX · VialAI  |  Carlos A. López Encino  |  Diplomado CD — FES Acatlán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25196" y="1371600"/>
            <a:ext cx="201168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0C4A6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" y="1600200"/>
            <a:ext cx="640080" cy="6400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25196" y="23317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16636" y="26974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en lenguaje natural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 rot="5400000">
            <a:off x="2482596" y="2148840"/>
            <a:ext cx="228600" cy="274320"/>
          </a:xfrm>
          <a:prstGeom prst="rtTriangl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756916" y="1371600"/>
            <a:ext cx="201168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2716" y="1600200"/>
            <a:ext cx="640080" cy="6400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756916" y="23317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2848356" y="26974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 intención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 rot="5400000">
            <a:off x="4814316" y="2148840"/>
            <a:ext cx="228600" cy="274320"/>
          </a:xfrm>
          <a:prstGeom prst="rtTriangl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5088636" y="1371600"/>
            <a:ext cx="201168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15803D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4436" y="1600200"/>
            <a:ext cx="640080" cy="6400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088636" y="23317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5180076" y="26974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Invoca el motor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 rot="5400000">
            <a:off x="7146036" y="2148840"/>
            <a:ext cx="228600" cy="274320"/>
          </a:xfrm>
          <a:prstGeom prst="rtTriangl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22" name="Shape 17"/>
          <p:cNvSpPr/>
          <p:nvPr/>
        </p:nvSpPr>
        <p:spPr>
          <a:xfrm>
            <a:off x="7420356" y="1371600"/>
            <a:ext cx="201168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B91C1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6156" y="1600200"/>
            <a:ext cx="640080" cy="6400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420356" y="23317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7511796" y="26974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Devuelve P10/P50/P90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 rot="5400000">
            <a:off x="9477756" y="2148840"/>
            <a:ext cx="228600" cy="274320"/>
          </a:xfrm>
          <a:prstGeom prst="rtTriangl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27" name="Shape 21"/>
          <p:cNvSpPr/>
          <p:nvPr/>
        </p:nvSpPr>
        <p:spPr>
          <a:xfrm>
            <a:off x="9752076" y="1371600"/>
            <a:ext cx="201168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37876" y="1600200"/>
            <a:ext cx="640080" cy="64008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752076" y="23317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500" dirty="0"/>
          </a:p>
        </p:txBody>
      </p:sp>
      <p:sp>
        <p:nvSpPr>
          <p:cNvPr id="30" name="Text 23"/>
          <p:cNvSpPr/>
          <p:nvPr/>
        </p:nvSpPr>
        <p:spPr>
          <a:xfrm>
            <a:off x="9843516" y="26974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 en lenguaje natural</a:t>
            </a:r>
            <a:endParaRPr lang="en-US" sz="1000" dirty="0"/>
          </a:p>
        </p:txBody>
      </p:sp>
      <p:sp>
        <p:nvSpPr>
          <p:cNvPr id="31" name="Text 24"/>
          <p:cNvSpPr/>
          <p:nvPr/>
        </p:nvSpPr>
        <p:spPr>
          <a:xfrm>
            <a:off x="548640" y="3840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herramientas expuestas al agente vía function calling</a:t>
            </a:r>
            <a:endParaRPr lang="en-US" sz="1600" dirty="0"/>
          </a:p>
        </p:txBody>
      </p:sp>
      <p:sp>
        <p:nvSpPr>
          <p:cNvPr id="32" name="Shape 25"/>
          <p:cNvSpPr/>
          <p:nvPr/>
        </p:nvSpPr>
        <p:spPr>
          <a:xfrm>
            <a:off x="548640" y="4434840"/>
            <a:ext cx="37033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33" name="Shape 26"/>
          <p:cNvSpPr/>
          <p:nvPr/>
        </p:nvSpPr>
        <p:spPr>
          <a:xfrm>
            <a:off x="548640" y="4434840"/>
            <a:ext cx="3703320" cy="109728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  <p:txBody>
          <a:bodyPr/>
          <a:p/>
        </p:txBody>
      </p:sp>
      <p:sp>
        <p:nvSpPr>
          <p:cNvPr id="34" name="Text 27"/>
          <p:cNvSpPr/>
          <p:nvPr/>
        </p:nvSpPr>
        <p:spPr>
          <a:xfrm>
            <a:off x="685800" y="46634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C4A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predecir_tiempo_viaje()  ·  comparar_rutas()</a:t>
            </a:r>
            <a:endParaRPr lang="en-US" sz="1300" dirty="0"/>
          </a:p>
        </p:txBody>
      </p:sp>
      <p:sp>
        <p:nvSpPr>
          <p:cNvPr id="35" name="Text 28"/>
          <p:cNvSpPr/>
          <p:nvPr/>
        </p:nvSpPr>
        <p:spPr>
          <a:xfrm>
            <a:off x="685800" y="516636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Origen, destino, hora → P10/P50/P90 + IC
Compara múltiples rutas en paralelo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4434840" y="4434840"/>
            <a:ext cx="37033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37" name="Shape 30"/>
          <p:cNvSpPr/>
          <p:nvPr/>
        </p:nvSpPr>
        <p:spPr>
          <a:xfrm>
            <a:off x="4434840" y="4434840"/>
            <a:ext cx="3703320" cy="1097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38" name="Text 31"/>
          <p:cNvSpPr/>
          <p:nvPr/>
        </p:nvSpPr>
        <p:spPr>
          <a:xfrm>
            <a:off x="4572000" y="46634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consultar_trafico_ahora()  ·  obtener_clima()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4572000" y="516636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→ estado actual + ratio de congestión
Clima vigente + factor de ajuste de velocidad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8321040" y="4434840"/>
            <a:ext cx="37033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41" name="Shape 34"/>
          <p:cNvSpPr/>
          <p:nvPr/>
        </p:nvSpPr>
        <p:spPr>
          <a:xfrm>
            <a:off x="8321040" y="4434840"/>
            <a:ext cx="3703320" cy="10972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sp>
        <p:nvSpPr>
          <p:cNvPr id="42" name="Text 35"/>
          <p:cNvSpPr/>
          <p:nvPr/>
        </p:nvSpPr>
        <p:spPr>
          <a:xfrm>
            <a:off x="8458200" y="46634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verificar_perturbaciones()  ·  obtener_lugares_guardados()</a:t>
            </a:r>
            <a:endParaRPr lang="en-US" sz="1300" dirty="0"/>
          </a:p>
        </p:txBody>
      </p:sp>
      <p:sp>
        <p:nvSpPr>
          <p:cNvPr id="43" name="Text 36"/>
          <p:cNvSpPr/>
          <p:nvPr/>
        </p:nvSpPr>
        <p:spPr>
          <a:xfrm>
            <a:off x="8458200" y="516636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→ eventos activos (cierres, marchas)
Lugares del usuario inyectados al agente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Estrategia: B2B logística de última milla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789920" y="457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594360"/>
            <a:ext cx="12188952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UrbanFlow CDMX · VialAI  |  Carlos A. López Encino  |  Diplomado CD — FES Acatlán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097280"/>
            <a:ext cx="5029200" cy="502920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1887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7373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15.6B</a:t>
            </a:r>
            <a:endParaRPr lang="en-US" sz="6800" dirty="0"/>
          </a:p>
        </p:txBody>
      </p:sp>
      <p:sp>
        <p:nvSpPr>
          <p:cNvPr id="10" name="Text 8"/>
          <p:cNvSpPr/>
          <p:nvPr/>
        </p:nvSpPr>
        <p:spPr>
          <a:xfrm>
            <a:off x="640080" y="29260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E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 milla en México · 2025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371600" y="3520440"/>
            <a:ext cx="3383280" cy="0"/>
          </a:xfrm>
          <a:prstGeom prst="line">
            <a:avLst/>
          </a:prstGeom>
          <a:noFill/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3749040"/>
            <a:ext cx="44805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27.3B proyectados para 2030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11.81%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 millones de compradores online en México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prefiere envío a domicilio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costos de última milla son hasta 53% del gasto logístico total.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852160" y="109728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usuarios objetivo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852160" y="1737360"/>
            <a:ext cx="57607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852160" y="1737360"/>
            <a:ext cx="109728" cy="1280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035040" y="184708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 de operaciones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035040" y="224028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Necesita: </a:t>
            </a:r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Prometer ventanas sin romper SLAs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VialAI: </a:t>
            </a:r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 P10-P90 por ruta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852160" y="3154680"/>
            <a:ext cx="57607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852160" y="3154680"/>
            <a:ext cx="109728" cy="1280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035040" y="326440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Manager PyME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035040" y="365760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Necesita: </a:t>
            </a:r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Planear turnos, costos y flotillas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VialAI: </a:t>
            </a:r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con IC por corredor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852160" y="4572000"/>
            <a:ext cx="57607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5852160" y="4572000"/>
            <a:ext cx="109728" cy="1280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035040" y="468172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Conductor en ruta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35040" y="507492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Necesita: </a:t>
            </a:r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seguir, desviar o reprogramar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VialAI: </a:t>
            </a:r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VialAI accionable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accionables que VialAI habilita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789920" y="457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594360"/>
            <a:ext cx="12188952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UrbanFlow CDMX · VialAI  |  Carlos A. López Encino  |  Diplomado CD — FES Acatlán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5577840" cy="2286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C4A6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91640"/>
            <a:ext cx="1097280" cy="10972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663440" y="14630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800" dirty="0"/>
          </a:p>
        </p:txBody>
      </p:sp>
      <p:sp>
        <p:nvSpPr>
          <p:cNvPr id="10" name="Text 7"/>
          <p:cNvSpPr/>
          <p:nvPr/>
        </p:nvSpPr>
        <p:spPr>
          <a:xfrm>
            <a:off x="2286000" y="1508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Quoting de ventanas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2286000" y="20574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Prometer '15:30–16:10' en vez de '14:00–18:00'. Reducir ventanas prometidas en 60%.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0" y="1188720"/>
            <a:ext cx="5577840" cy="228600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1097280" cy="10972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0515600" y="14630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800" dirty="0"/>
          </a:p>
        </p:txBody>
      </p:sp>
      <p:sp>
        <p:nvSpPr>
          <p:cNvPr id="15" name="Text 11"/>
          <p:cNvSpPr/>
          <p:nvPr/>
        </p:nvSpPr>
        <p:spPr>
          <a:xfrm>
            <a:off x="8138160" y="1508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Priorización dinámica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8138160" y="20574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Rutas verdes a conductores nuevos. Rutas rojas a experimentados. Menos fallas de entrega.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3703320"/>
            <a:ext cx="5577840" cy="2286000"/>
          </a:xfrm>
          <a:prstGeom prst="rect">
            <a:avLst/>
          </a:prstGeom>
          <a:solidFill>
            <a:srgbClr val="FFFFFF"/>
          </a:solidFill>
          <a:ln w="25400">
            <a:solidFill>
              <a:srgbClr val="B91C1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06240"/>
            <a:ext cx="1097280" cy="10972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663440" y="39776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800" dirty="0"/>
          </a:p>
        </p:txBody>
      </p:sp>
      <p:sp>
        <p:nvSpPr>
          <p:cNvPr id="20" name="Text 15"/>
          <p:cNvSpPr/>
          <p:nvPr/>
        </p:nvSpPr>
        <p:spPr>
          <a:xfrm>
            <a:off x="228600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tempranas por IC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2286000" y="45720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IC &gt; 0.60, notificar al dispatcher antes de que el retraso ocurra.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6400800" y="3703320"/>
            <a:ext cx="5577840" cy="2286000"/>
          </a:xfrm>
          <a:prstGeom prst="rect">
            <a:avLst/>
          </a:prstGeom>
          <a:solidFill>
            <a:srgbClr val="FFFFFF"/>
          </a:solidFill>
          <a:ln w="25400">
            <a:solidFill>
              <a:srgbClr val="15803D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4206240"/>
            <a:ext cx="1097280" cy="10972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515600" y="39776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6800" dirty="0"/>
          </a:p>
        </p:txBody>
      </p:sp>
      <p:sp>
        <p:nvSpPr>
          <p:cNvPr id="25" name="Text 19"/>
          <p:cNvSpPr/>
          <p:nvPr/>
        </p:nvSpPr>
        <p:spPr>
          <a:xfrm>
            <a:off x="813816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post-mortem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8138160" y="45720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final del día, comparar predicho vs real. Identificar patrones y recalibrar.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Conclusión: VialAI es un sistema operativo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789920" y="457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594360"/>
            <a:ext cx="12188952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UrbanFlow CDMX · VialAI  |  Carlos A. López Encino  |  Diplomado CD — FES Acatlán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184648" y="2606040"/>
            <a:ext cx="1828800" cy="1828800"/>
          </a:xfrm>
          <a:prstGeom prst="ellipse">
            <a:avLst/>
          </a:prstGeom>
          <a:solidFill>
            <a:srgbClr val="0C4A6E"/>
          </a:solidFill>
          <a:ln w="381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184648" y="2926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VialAI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184648" y="347472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AE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CAE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operativo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276088" y="1143000"/>
            <a:ext cx="1645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321808" y="12344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Ingesta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321808" y="158191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TomTom + OWM + C5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666232" y="1718816"/>
            <a:ext cx="1645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711952" y="181025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Discretización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711952" y="2157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estados Markov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242048" y="3108960"/>
            <a:ext cx="1645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28776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Matriz P̂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287768" y="35478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actualizada c/ hora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666232" y="4499104"/>
            <a:ext cx="1645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711952" y="459054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Perturbaciones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11952" y="493801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 aplicado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276088" y="5074920"/>
            <a:ext cx="1645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321808" y="51663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Monte Carlo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321808" y="551383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10,000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85944" y="4499104"/>
            <a:ext cx="1645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3931664" y="459054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Bandas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931664" y="493801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P10/P50/P90 + IC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310128" y="3108960"/>
            <a:ext cx="1645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335584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Agente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355848" y="35478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VialAI explica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885944" y="1718816"/>
            <a:ext cx="1645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3931664" y="181025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Usuario decide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931664" y="2157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regresa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hora el ciclo se repite. Cada día el modelo se recalibra.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14400" y="20116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¡Gracias!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914400" y="33832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914400" y="4389120"/>
            <a:ext cx="3657600" cy="0"/>
          </a:xfrm>
          <a:prstGeom prst="line">
            <a:avLst/>
          </a:prstGeom>
          <a:noFill/>
          <a:ln w="254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4572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Carlos Armando López Encino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5074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E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Diplomado en Ciencia de Datos · FES Acatlán · UNAM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54406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github.com/caledelta/UrbanFlow_CDMX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UrbanFlow CDMX - VialAI</dc:title>
  <dc:subject>PptxGenJS Presentation</dc:subject>
  <dc:creator>Carlos Armando López Encino</dc:creator>
  <cp:lastModifiedBy>Carlos Armando López Encino</cp:lastModifiedBy>
  <cp:revision>1</cp:revision>
  <dcterms:created xsi:type="dcterms:W3CDTF">2026-04-09T23:50:30Z</dcterms:created>
  <dcterms:modified xsi:type="dcterms:W3CDTF">2026-04-09T23:50:30Z</dcterms:modified>
</cp:coreProperties>
</file>