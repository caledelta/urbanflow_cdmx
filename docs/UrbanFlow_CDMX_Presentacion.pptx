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CIENCIA DE DATOS · FES ACATLÁN · UNAM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probabilística de tiempos de viaje en la ZMVM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Markov · Monte Carlo · Agente Conversacional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3657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Armando López Encino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Final  ·  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comenzar: ¿Qué es la ZMVM?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Metropolitana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Valle de México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tercera megaciudad más grande del continente americano, con una de las dinámicas de tráfico más desafiantes del mundo.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 por: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alcaldías de la Ciudad de México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municipios conurbados del Estado de México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municipio del estado de Hidalgo (Tizayuca)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2801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280160"/>
            <a:ext cx="91440" cy="182880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21.8M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6751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12801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35440" y="128016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4183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3832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3383280"/>
            <a:ext cx="91440" cy="1828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6751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congestión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33832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35440" y="3383280"/>
            <a:ext cx="91440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5.5M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94183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en circulación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DataMéxico 2024 · TomTom Traffic Index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tráfico impredecible en la ZMVM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240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al año perdidas en tráfico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conductor en CDMX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 a 6 días completos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19 jornadas laborales de 8 horas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5029200" cy="4846320"/>
          </a:xfrm>
          <a:prstGeom prst="rect">
            <a:avLst/>
          </a:prstGeom>
          <a:solidFill>
            <a:srgbClr val="0C4A6E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325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173736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 es la ciudad #1 del mundo en congestión vehicular (TomTom 2024).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10 km toma 32 min en promedio (velocidad media: 18.8 km/h).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hora pico, las arterias principales pueden caer a 5 km/h.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registran ~3,000 manifestaciones al año con cierres imprevistos.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actuales (Google Maps, Waze) dan un solo número. El tráfico no es un número: es una distribución.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73152" cy="11887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463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2057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fuentes, cadenas de Markov de 3 estados, simulación Monte Carlo vectorizada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12" name="Shape 10"/>
          <p:cNvSpPr/>
          <p:nvPr/>
        </p:nvSpPr>
        <p:spPr>
          <a:xfrm>
            <a:off x="2560320" y="310896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 en acción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34640" y="3657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Bandas P10/P50/P90, Índice de Confiabilidad, agente conversacional y perturbaciones contextuales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16" name="Shape 14"/>
          <p:cNvSpPr/>
          <p:nvPr/>
        </p:nvSpPr>
        <p:spPr>
          <a:xfrm>
            <a:off x="2560320" y="4709160"/>
            <a:ext cx="73152" cy="1188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4663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negocio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834640" y="52578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logística de última milla en la ZMVM — el nicho donde la predictibilidad importa más que la velocidad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datos: 5 fuentes integradas en tiempo real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3657600" cy="1371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8229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TomTom × 2 · OWM · C5 · GMaps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188720"/>
            <a:ext cx="365760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08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4800" dirty="0"/>
          </a:p>
        </p:txBody>
      </p:sp>
      <p:sp>
        <p:nvSpPr>
          <p:cNvPr id="17" name="Text 13"/>
          <p:cNvSpPr/>
          <p:nvPr/>
        </p:nvSpPr>
        <p:spPr>
          <a:xfrm>
            <a:off x="47091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Trayectorias MC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7091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consulta de viaje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21040" y="11887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1188720"/>
            <a:ext cx="3657600" cy="137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087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23" name="Text 18"/>
          <p:cNvSpPr/>
          <p:nvPr/>
        </p:nvSpPr>
        <p:spPr>
          <a:xfrm>
            <a:off x="85953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Markov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953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 · Lento · Congestionado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3703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3703320"/>
            <a:ext cx="3657600" cy="137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8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Perturbaciones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2296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· Eventos · Marchas · Festivos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434840" y="3703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434840" y="3703320"/>
            <a:ext cx="3657600" cy="1371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02336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5780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4800" dirty="0"/>
          </a:p>
        </p:txBody>
      </p:sp>
      <p:sp>
        <p:nvSpPr>
          <p:cNvPr id="35" name="Text 28"/>
          <p:cNvSpPr/>
          <p:nvPr/>
        </p:nvSpPr>
        <p:spPr>
          <a:xfrm>
            <a:off x="47091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470916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100% pasando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321040" y="37033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321040" y="3703320"/>
            <a:ext cx="365760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02336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4400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</a:t>
            </a:r>
            <a:endParaRPr lang="en-US" sz="4800" dirty="0"/>
          </a:p>
        </p:txBody>
      </p:sp>
      <p:sp>
        <p:nvSpPr>
          <p:cNvPr id="41" name="Text 33"/>
          <p:cNvSpPr/>
          <p:nvPr/>
        </p:nvSpPr>
        <p:spPr>
          <a:xfrm>
            <a:off x="859536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de latencia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859536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consulta en CPU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Markov: la dinámica del tráfico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futuro depende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del estado presente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P(X_{t+1} | X_t, X_{t-1}, …, X_0) = P(X_{t+1} | X_t)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estados mutuamente excluyentes: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 — 20 a 80 km/h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— 5 a 35 km/h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Congestionado — 2 a 15 km/h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6 parámetros libres. Identificables con datos razonables. Interpretables para un dispatcher.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transición (pico AM)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388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Fluido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6988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Congest.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103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2103120"/>
            <a:ext cx="1143000" cy="1005840"/>
          </a:xfrm>
          <a:prstGeom prst="rect">
            <a:avLst/>
          </a:prstGeom>
          <a:solidFill>
            <a:srgbClr val="0C4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103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326880" y="2103120"/>
            <a:ext cx="1143000" cy="1005840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103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469880" y="2103120"/>
            <a:ext cx="1143000" cy="1005840"/>
          </a:xfrm>
          <a:prstGeom prst="rect">
            <a:avLst/>
          </a:prstGeom>
          <a:solidFill>
            <a:srgbClr val="CAE0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69880" y="210312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31089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3108960"/>
            <a:ext cx="1143000" cy="1005840"/>
          </a:xfrm>
          <a:prstGeom prst="rect">
            <a:avLst/>
          </a:prstGeom>
          <a:solidFill>
            <a:srgbClr val="CAE0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089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26880" y="3108960"/>
            <a:ext cx="1143000" cy="1005840"/>
          </a:xfrm>
          <a:prstGeom prst="rect">
            <a:avLst/>
          </a:prstGeom>
          <a:solidFill>
            <a:srgbClr val="0C4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31089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469880" y="3108960"/>
            <a:ext cx="1143000" cy="1005840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69880" y="310896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41148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4114800"/>
            <a:ext cx="1143000" cy="1005840"/>
          </a:xfrm>
          <a:prstGeom prst="rect">
            <a:avLst/>
          </a:prstGeom>
          <a:solidFill>
            <a:srgbClr val="CAE0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1148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326880" y="4114800"/>
            <a:ext cx="1143000" cy="1005840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41148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469880" y="4114800"/>
            <a:ext cx="1143000" cy="1005840"/>
          </a:xfrm>
          <a:prstGeom prst="rect">
            <a:avLst/>
          </a:prstGeom>
          <a:solidFill>
            <a:srgbClr val="0C4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69880" y="411480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58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Diagonales dominantes → inercia del tráfico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Empeorar es más probable que mejorar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Monte Carlo: N = 10,000 trayectorias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número a una distribución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Simular 10,000 trayectorias posibles del vehículo en la ruta.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cada paso, muestrear estado de Markov y velocidad dentro del estado (Normal truncada).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Acumular distancia hasta alcanzar el destino.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Extraer percentiles P10, P50, P90 del histograma de tiempos.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simulación corre en &lt;500 ms gracias a vectorización NumPy.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simulada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4800600"/>
            <a:ext cx="5303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4320540"/>
            <a:ext cx="258064" cy="48006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6608" y="3680460"/>
            <a:ext cx="258064" cy="112014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91248" y="2880360"/>
            <a:ext cx="258064" cy="1920240"/>
          </a:xfrm>
          <a:prstGeom prst="rect">
            <a:avLst/>
          </a:prstGeom>
          <a:solidFill>
            <a:srgbClr val="1580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85888" y="1984248"/>
            <a:ext cx="258064" cy="2816352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0528" y="1600200"/>
            <a:ext cx="258064" cy="320040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5168" y="1760220"/>
            <a:ext cx="258064" cy="304038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9808" y="2240280"/>
            <a:ext cx="258064" cy="256032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64448" y="2720340"/>
            <a:ext cx="258064" cy="208026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59088" y="3200400"/>
            <a:ext cx="258064" cy="160020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3728" y="3584448"/>
            <a:ext cx="258064" cy="1216152"/>
          </a:xfrm>
          <a:prstGeom prst="rect">
            <a:avLst/>
          </a:prstGeom>
          <a:solidFill>
            <a:srgbClr val="B91C1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8368" y="3904488"/>
            <a:ext cx="258064" cy="896112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43008" y="4160520"/>
            <a:ext cx="258064" cy="64008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37648" y="4352544"/>
            <a:ext cx="258064" cy="448056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32288" y="4480560"/>
            <a:ext cx="258064" cy="32004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26928" y="4576572"/>
            <a:ext cx="258064" cy="224028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21568" y="4640580"/>
            <a:ext cx="258064" cy="160020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16208" y="4704588"/>
            <a:ext cx="258064" cy="96012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10848" y="4736592"/>
            <a:ext cx="258064" cy="64008"/>
          </a:xfrm>
          <a:prstGeom prst="rect">
            <a:avLst/>
          </a:prstGeom>
          <a:solidFill>
            <a:srgbClr val="0C4A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8640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87920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0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viaje (min)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probabilidad de llegar dentro de la banda P10–P90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Perturbaciones contextuales: lo que TomTom no 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que alteran la matriz de transición al vuelo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00200"/>
            <a:ext cx="137160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línea Metro L1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1.25   →  Δπ = +22 pp en Cong.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3017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usuarios migran al auto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160020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600200"/>
            <a:ext cx="137160" cy="2103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en Estadio Azteca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72084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1.22   →  Δπ = +19 pp en Cong.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720840" y="3017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 3–5 km afectado 3 h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977640"/>
            <a:ext cx="137160" cy="21031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976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 9 de marzo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6868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1.30   →  Δπ = +29 pp en Cong.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6868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Reforma, Cuauhtémoc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0" y="39776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0" y="3977640"/>
            <a:ext cx="137160" cy="2103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2976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6092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Navidad / Año Nuevo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72084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0.55   →  Δπ = −19 pp en Cong.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72084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semi-vacía, congestión mínima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Confiabilidad: un número vendible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solidFill>
            <a:srgbClr val="0C4A6E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 =  ( P₉₀  −  P₁₀ )  /  P₅₀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 relativa de la banda. Adimensional. Cuanto menor, más confiable la ruta.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70332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3703320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08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≤ 0.30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confiable · SLA promisable con margen mínimo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017520"/>
            <a:ext cx="370332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CA8A0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3017520"/>
            <a:ext cx="370332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108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3931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&lt; IC ≤ 0.60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volátil · Requiere buffer moderado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3017520"/>
            <a:ext cx="370332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3017520"/>
            <a:ext cx="3703320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108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95360" y="3931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&gt; 0.60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0" y="47548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impredecible · No prometer ventana estrecha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 con tráfico Fluido en la ZMVM el IC es ≈ 0.57 → la ciudad nunca es "predecible"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narrativa: Polanco → Santa Fe, 08:15 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4389120" cy="502920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Polanco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Fe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(TomTom Routing)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 km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 (TomTom)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(r = 0.52)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(OpenWeatherMap)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Llovizna — φ = 0.88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Perturbaciones activas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5074920" y="3291840"/>
            <a:ext cx="640080" cy="6400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097280"/>
            <a:ext cx="576072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 RESPONDE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5486400" cy="731520"/>
          </a:xfrm>
          <a:prstGeom prst="rect">
            <a:avLst/>
          </a:prstGeom>
          <a:solidFill>
            <a:srgbClr val="15803D">
              <a:alpha val="70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783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= 28 min  (optimista)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5486400" cy="731520"/>
          </a:xfrm>
          <a:prstGeom prst="rect">
            <a:avLst/>
          </a:prstGeom>
          <a:solidFill>
            <a:srgbClr val="D97706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= 37 min  (mediana)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35040" y="3337560"/>
            <a:ext cx="5486400" cy="731520"/>
          </a:xfrm>
          <a:prstGeom prst="rect">
            <a:avLst/>
          </a:prstGeom>
          <a:solidFill>
            <a:srgbClr val="B91C1C">
              <a:alpha val="70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429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= 53 min  (pesimista)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4251960"/>
            <a:ext cx="54864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251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= 0.68 — ROJO 🔴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0" y="53492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Salir con 16 min extra para garantizar 90% de llegar a tiempo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empírica sobre 30 rutas ZMVM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164592" cy="2240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14173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91440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del P50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15% objetivo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18872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188720"/>
            <a:ext cx="164592" cy="22402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002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0" y="14173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6000" dirty="0"/>
          </a:p>
        </p:txBody>
      </p:sp>
      <p:sp>
        <p:nvSpPr>
          <p:cNvPr id="17" name="Text 13"/>
          <p:cNvSpPr/>
          <p:nvPr/>
        </p:nvSpPr>
        <p:spPr>
          <a:xfrm>
            <a:off x="676656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P10-P90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76656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80%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3657600"/>
            <a:ext cx="164592" cy="2240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6908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38862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6000" dirty="0"/>
          </a:p>
        </p:txBody>
      </p:sp>
      <p:sp>
        <p:nvSpPr>
          <p:cNvPr id="23" name="Text 18"/>
          <p:cNvSpPr/>
          <p:nvPr/>
        </p:nvSpPr>
        <p:spPr>
          <a:xfrm>
            <a:off x="914400" y="5074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minutos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1440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0" y="365760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3657600"/>
            <a:ext cx="164592" cy="2240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069080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89520" y="38862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6000" dirty="0"/>
          </a:p>
        </p:txBody>
      </p:sp>
      <p:sp>
        <p:nvSpPr>
          <p:cNvPr id="29" name="Text 23"/>
          <p:cNvSpPr/>
          <p:nvPr/>
        </p:nvSpPr>
        <p:spPr>
          <a:xfrm>
            <a:off x="6766560" y="5074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TomTom ETA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76656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 es 7pp mejor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 entrega mejor precisión que TomTom ETA y cuantifica la incertidumbre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VialAI: la capa conversacional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519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16002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5196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6636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lenguaje natural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rot="5400000">
            <a:off x="2482596" y="2148840"/>
            <a:ext cx="228600" cy="27432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5691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16002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56916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48356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intención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 rot="5400000">
            <a:off x="4814316" y="2148840"/>
            <a:ext cx="228600" cy="27432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8863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16002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8636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80076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el motor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46036" y="2148840"/>
            <a:ext cx="228600" cy="27432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2035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6" y="160020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20356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511796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P10/P50/P90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 rot="5400000">
            <a:off x="9477756" y="2148840"/>
            <a:ext cx="228600" cy="27432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75207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1600200"/>
            <a:ext cx="640080" cy="6400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52076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843516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en lenguaje natural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expuestas al agente vía function calling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548640" y="4434840"/>
            <a:ext cx="3703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48640" y="4434840"/>
            <a:ext cx="3703320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85800" y="4663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predecir_tiempo_viaje()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685800" y="51663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Origen, destino, hora → P10/P50/P90 + IC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434840" y="4434840"/>
            <a:ext cx="3703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434840" y="4434840"/>
            <a:ext cx="370332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572000" y="4663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consultar_trafico_ahora()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4572000" y="51663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→ estado actual + ratio de congestión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321040" y="4434840"/>
            <a:ext cx="3703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21040" y="4434840"/>
            <a:ext cx="3703320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458200" y="4663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verificar_perturbaciones()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8458200" y="51663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→ eventos activos (cierres, marchas)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B2B logística de última milla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029200" cy="502920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15.6B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milla en México · 2025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520440"/>
            <a:ext cx="338328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4904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27.3B proyectados para 2030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11.81%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millones de compradores online en México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prefiere envío a domicilio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costos de última milla son hasta 53% del gasto logístico total.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usuarios objetivo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852160" y="173736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737360"/>
            <a:ext cx="10972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8470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de operaciones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Necesita: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ventanas sin romper SLAs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VialAI: 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P10-P90 por ruta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15468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3154680"/>
            <a:ext cx="10972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2644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 PyME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3657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Necesita: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 turnos, costos y flotillas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VialAI: 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IC por corredor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457200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4572000"/>
            <a:ext cx="10972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4681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en ruta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5040" y="5074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Necesita: </a:t>
            </a:r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seguir, desviar o reprogramar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VialAI: 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VialAI accionable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accionables que VialAI habilita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5778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0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800" dirty="0"/>
          </a:p>
        </p:txBody>
      </p:sp>
      <p:sp>
        <p:nvSpPr>
          <p:cNvPr id="10" name="Text 7"/>
          <p:cNvSpPr/>
          <p:nvPr/>
        </p:nvSpPr>
        <p:spPr>
          <a:xfrm>
            <a:off x="228600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de ventanas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286000" y="2057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'15:30–16:10' en vez de '14:00–18:00'. Reducir ventanas prometidas en 60%.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1188720"/>
            <a:ext cx="55778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1097280" cy="10972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0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800" dirty="0"/>
          </a:p>
        </p:txBody>
      </p:sp>
      <p:sp>
        <p:nvSpPr>
          <p:cNvPr id="15" name="Text 11"/>
          <p:cNvSpPr/>
          <p:nvPr/>
        </p:nvSpPr>
        <p:spPr>
          <a:xfrm>
            <a:off x="81381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dinámica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138160" y="2057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verdes a conductores nuevos. Rutas rojas a experimentados. Menos fallas de entrega.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703320"/>
            <a:ext cx="55778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1097280" cy="10972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977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800" dirty="0"/>
          </a:p>
        </p:txBody>
      </p:sp>
      <p:sp>
        <p:nvSpPr>
          <p:cNvPr id="20" name="Text 15"/>
          <p:cNvSpPr/>
          <p:nvPr/>
        </p:nvSpPr>
        <p:spPr>
          <a:xfrm>
            <a:off x="228600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tempranas por IC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286000" y="4572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IC &gt; 0.60, notificar al dispatcher antes de que el retraso ocurra.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0" y="3703320"/>
            <a:ext cx="55778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06240"/>
            <a:ext cx="1097280" cy="10972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0" y="3977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800" dirty="0"/>
          </a:p>
        </p:txBody>
      </p:sp>
      <p:sp>
        <p:nvSpPr>
          <p:cNvPr id="25" name="Text 19"/>
          <p:cNvSpPr/>
          <p:nvPr/>
        </p:nvSpPr>
        <p:spPr>
          <a:xfrm>
            <a:off x="813816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post-mortem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138160" y="4572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del día, comparar predicho vs real. Identificar patrones y recalibrar.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VialAI es un sistema operativo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789920" y="45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UrbanFlow CDMX · VialAI  |  Carlos A. López Encino  |  Diplomado CD — FES Acatlán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84648" y="2606040"/>
            <a:ext cx="1828800" cy="1828800"/>
          </a:xfrm>
          <a:prstGeom prst="ellipse">
            <a:avLst/>
          </a:prstGeom>
          <a:solidFill>
            <a:srgbClr val="0C4A6E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84648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84648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76088" y="114300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21808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21808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TomTom + OWM + C5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66232" y="1718816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11952" y="18102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Discretización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11952" y="2157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estados Markov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42048" y="310896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8776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Matriz P̂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87768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actualizada c/ hora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66232" y="4499104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11952" y="45905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Perturbaciones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11952" y="49380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aplicado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76088" y="507492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1808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Monte Carlo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5513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10,000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85944" y="4499104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664" y="45905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Bandas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664" y="49380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P10/P50/P90 + IC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10128" y="3108960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5584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Agente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VialAI explica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5944" y="1718816"/>
            <a:ext cx="1645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31664" y="18102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Usuario decide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664" y="2157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regresa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el ciclo se repite. Cada día el modelo se recalibra.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3657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Armando López Encino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E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Ciencia de Datos · FES Acatlán · UNAM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github.com/Palermo01/UrbanFlow_CDMX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UrbanFlow CDMX - VialAI</dc:title>
  <dc:subject>PptxGenJS Presentation</dc:subject>
  <dc:creator>Carlos Armando López Encino</dc:creator>
  <cp:lastModifiedBy>Carlos Armando López Encino</cp:lastModifiedBy>
  <cp:revision>1</cp:revision>
  <dcterms:created xsi:type="dcterms:W3CDTF">2026-04-09T23:50:30Z</dcterms:created>
  <dcterms:modified xsi:type="dcterms:W3CDTF">2026-04-09T23:50:30Z</dcterms:modified>
</cp:coreProperties>
</file>